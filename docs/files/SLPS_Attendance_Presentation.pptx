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F170C8-E16E-4022-8019-88F690993B96}" v="2" dt="2026-02-09T06:44:05.3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2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uckey, Jr., Everett (MU-Student)" userId="72144f61-c08e-4d38-bdb2-059f5253dbd2" providerId="ADAL" clId="{76419403-7D08-4E91-89FB-9FC1846C3D61}"/>
    <pc:docChg chg="modSld">
      <pc:chgData name="Stuckey, Jr., Everett (MU-Student)" userId="72144f61-c08e-4d38-bdb2-059f5253dbd2" providerId="ADAL" clId="{76419403-7D08-4E91-89FB-9FC1846C3D61}" dt="2026-02-09T06:44:05.324" v="1"/>
      <pc:docMkLst>
        <pc:docMk/>
      </pc:docMkLst>
      <pc:sldChg chg="modSp">
        <pc:chgData name="Stuckey, Jr., Everett (MU-Student)" userId="72144f61-c08e-4d38-bdb2-059f5253dbd2" providerId="ADAL" clId="{76419403-7D08-4E91-89FB-9FC1846C3D61}" dt="2026-02-09T06:44:05.324" v="1"/>
        <pc:sldMkLst>
          <pc:docMk/>
          <pc:sldMk cId="0" sldId="256"/>
        </pc:sldMkLst>
        <pc:spChg chg="mod">
          <ac:chgData name="Stuckey, Jr., Everett (MU-Student)" userId="72144f61-c08e-4d38-bdb2-059f5253dbd2" providerId="ADAL" clId="{76419403-7D08-4E91-89FB-9FC1846C3D61}" dt="2026-02-09T06:44:05.324" v="1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Stuckey, Jr., Everett (MU-Student)" userId="72144f61-c08e-4d38-bdb2-059f5253dbd2" providerId="ADAL" clId="{76419403-7D08-4E91-89FB-9FC1846C3D61}" dt="2026-02-09T06:43:47.108" v="0"/>
        <pc:sldMkLst>
          <pc:docMk/>
          <pc:sldMk cId="0" sldId="257"/>
        </pc:sldMkLst>
        <pc:spChg chg="mod">
          <ac:chgData name="Stuckey, Jr., Everett (MU-Student)" userId="72144f61-c08e-4d38-bdb2-059f5253dbd2" providerId="ADAL" clId="{76419403-7D08-4E91-89FB-9FC1846C3D61}" dt="2026-02-09T06:43:47.108" v="0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Stuckey, Jr., Everett (MU-Student)" userId="72144f61-c08e-4d38-bdb2-059f5253dbd2" providerId="ADAL" clId="{76419403-7D08-4E91-89FB-9FC1846C3D61}" dt="2026-02-09T06:44:05.324" v="1"/>
        <pc:sldMkLst>
          <pc:docMk/>
          <pc:sldMk cId="0" sldId="259"/>
        </pc:sldMkLst>
        <pc:spChg chg="mod">
          <ac:chgData name="Stuckey, Jr., Everett (MU-Student)" userId="72144f61-c08e-4d38-bdb2-059f5253dbd2" providerId="ADAL" clId="{76419403-7D08-4E91-89FB-9FC1846C3D61}" dt="2026-02-09T06:44:05.324" v="1"/>
          <ac:spMkLst>
            <pc:docMk/>
            <pc:sldMk cId="0" sldId="259"/>
            <ac:spMk id="4" creationId="{00000000-0000-0000-0000-000000000000}"/>
          </ac:spMkLst>
        </pc:spChg>
      </pc:sldChg>
      <pc:sldChg chg="modSp">
        <pc:chgData name="Stuckey, Jr., Everett (MU-Student)" userId="72144f61-c08e-4d38-bdb2-059f5253dbd2" providerId="ADAL" clId="{76419403-7D08-4E91-89FB-9FC1846C3D61}" dt="2026-02-09T06:43:47.108" v="0"/>
        <pc:sldMkLst>
          <pc:docMk/>
          <pc:sldMk cId="0" sldId="262"/>
        </pc:sldMkLst>
        <pc:spChg chg="mod">
          <ac:chgData name="Stuckey, Jr., Everett (MU-Student)" userId="72144f61-c08e-4d38-bdb2-059f5253dbd2" providerId="ADAL" clId="{76419403-7D08-4E91-89FB-9FC1846C3D61}" dt="2026-02-09T06:43:47.108" v="0"/>
          <ac:spMkLst>
            <pc:docMk/>
            <pc:sldMk cId="0" sldId="262"/>
            <ac:spMk id="4" creationId="{00000000-0000-0000-0000-000000000000}"/>
          </ac:spMkLst>
        </pc:spChg>
      </pc:sldChg>
      <pc:sldChg chg="modSp">
        <pc:chgData name="Stuckey, Jr., Everett (MU-Student)" userId="72144f61-c08e-4d38-bdb2-059f5253dbd2" providerId="ADAL" clId="{76419403-7D08-4E91-89FB-9FC1846C3D61}" dt="2026-02-09T06:43:47.108" v="0"/>
        <pc:sldMkLst>
          <pc:docMk/>
          <pc:sldMk cId="0" sldId="263"/>
        </pc:sldMkLst>
        <pc:spChg chg="mod">
          <ac:chgData name="Stuckey, Jr., Everett (MU-Student)" userId="72144f61-c08e-4d38-bdb2-059f5253dbd2" providerId="ADAL" clId="{76419403-7D08-4E91-89FB-9FC1846C3D61}" dt="2026-02-09T06:43:47.108" v="0"/>
          <ac:spMkLst>
            <pc:docMk/>
            <pc:sldMk cId="0" sldId="263"/>
            <ac:spMk id="4" creationId="{00000000-0000-0000-0000-000000000000}"/>
          </ac:spMkLst>
        </pc:spChg>
      </pc:sldChg>
      <pc:sldChg chg="modSp">
        <pc:chgData name="Stuckey, Jr., Everett (MU-Student)" userId="72144f61-c08e-4d38-bdb2-059f5253dbd2" providerId="ADAL" clId="{76419403-7D08-4E91-89FB-9FC1846C3D61}" dt="2026-02-09T06:44:05.324" v="1"/>
        <pc:sldMkLst>
          <pc:docMk/>
          <pc:sldMk cId="0" sldId="264"/>
        </pc:sldMkLst>
        <pc:spChg chg="mod">
          <ac:chgData name="Stuckey, Jr., Everett (MU-Student)" userId="72144f61-c08e-4d38-bdb2-059f5253dbd2" providerId="ADAL" clId="{76419403-7D08-4E91-89FB-9FC1846C3D61}" dt="2026-02-09T06:44:05.324" v="1"/>
          <ac:spMkLst>
            <pc:docMk/>
            <pc:sldMk cId="0" sldId="264"/>
            <ac:spMk id="4" creationId="{00000000-0000-0000-0000-000000000000}"/>
          </ac:spMkLst>
        </pc:spChg>
      </pc:sldChg>
      <pc:sldChg chg="modSp">
        <pc:chgData name="Stuckey, Jr., Everett (MU-Student)" userId="72144f61-c08e-4d38-bdb2-059f5253dbd2" providerId="ADAL" clId="{76419403-7D08-4E91-89FB-9FC1846C3D61}" dt="2026-02-09T06:44:05.324" v="1"/>
        <pc:sldMkLst>
          <pc:docMk/>
          <pc:sldMk cId="0" sldId="265"/>
        </pc:sldMkLst>
        <pc:spChg chg="mod">
          <ac:chgData name="Stuckey, Jr., Everett (MU-Student)" userId="72144f61-c08e-4d38-bdb2-059f5253dbd2" providerId="ADAL" clId="{76419403-7D08-4E91-89FB-9FC1846C3D61}" dt="2026-02-09T06:44:05.324" v="1"/>
          <ac:spMkLst>
            <pc:docMk/>
            <pc:sldMk cId="0" sldId="265"/>
            <ac:spMk id="4" creationId="{00000000-0000-0000-0000-000000000000}"/>
          </ac:spMkLst>
        </pc:spChg>
      </pc:sldChg>
      <pc:sldChg chg="modSp">
        <pc:chgData name="Stuckey, Jr., Everett (MU-Student)" userId="72144f61-c08e-4d38-bdb2-059f5253dbd2" providerId="ADAL" clId="{76419403-7D08-4E91-89FB-9FC1846C3D61}" dt="2026-02-09T06:43:47.108" v="0"/>
        <pc:sldMkLst>
          <pc:docMk/>
          <pc:sldMk cId="0" sldId="268"/>
        </pc:sldMkLst>
        <pc:spChg chg="mod">
          <ac:chgData name="Stuckey, Jr., Everett (MU-Student)" userId="72144f61-c08e-4d38-bdb2-059f5253dbd2" providerId="ADAL" clId="{76419403-7D08-4E91-89FB-9FC1846C3D61}" dt="2026-02-09T06:43:47.108" v="0"/>
          <ac:spMkLst>
            <pc:docMk/>
            <pc:sldMk cId="0" sldId="268"/>
            <ac:spMk id="4" creationId="{00000000-0000-0000-0000-000000000000}"/>
          </ac:spMkLst>
        </pc:spChg>
      </pc:sldChg>
      <pc:sldChg chg="modSp">
        <pc:chgData name="Stuckey, Jr., Everett (MU-Student)" userId="72144f61-c08e-4d38-bdb2-059f5253dbd2" providerId="ADAL" clId="{76419403-7D08-4E91-89FB-9FC1846C3D61}" dt="2026-02-09T06:43:47.108" v="0"/>
        <pc:sldMkLst>
          <pc:docMk/>
          <pc:sldMk cId="0" sldId="269"/>
        </pc:sldMkLst>
        <pc:spChg chg="mod">
          <ac:chgData name="Stuckey, Jr., Everett (MU-Student)" userId="72144f61-c08e-4d38-bdb2-059f5253dbd2" providerId="ADAL" clId="{76419403-7D08-4E91-89FB-9FC1846C3D61}" dt="2026-02-09T06:43:47.108" v="0"/>
          <ac:spMkLst>
            <pc:docMk/>
            <pc:sldMk cId="0" sldId="269"/>
            <ac:spMk id="4" creationId="{00000000-0000-0000-0000-000000000000}"/>
          </ac:spMkLst>
        </pc:spChg>
      </pc:sldChg>
      <pc:sldChg chg="modSp">
        <pc:chgData name="Stuckey, Jr., Everett (MU-Student)" userId="72144f61-c08e-4d38-bdb2-059f5253dbd2" providerId="ADAL" clId="{76419403-7D08-4E91-89FB-9FC1846C3D61}" dt="2026-02-09T06:44:05.324" v="1"/>
        <pc:sldMkLst>
          <pc:docMk/>
          <pc:sldMk cId="0" sldId="270"/>
        </pc:sldMkLst>
        <pc:spChg chg="mod">
          <ac:chgData name="Stuckey, Jr., Everett (MU-Student)" userId="72144f61-c08e-4d38-bdb2-059f5253dbd2" providerId="ADAL" clId="{76419403-7D08-4E91-89FB-9FC1846C3D61}" dt="2026-02-09T06:44:05.324" v="1"/>
          <ac:spMkLst>
            <pc:docMk/>
            <pc:sldMk cId="0" sldId="270"/>
            <ac:spMk id="3" creationId="{00000000-0000-0000-0000-000000000000}"/>
          </ac:spMkLst>
        </pc:spChg>
        <pc:spChg chg="mod">
          <ac:chgData name="Stuckey, Jr., Everett (MU-Student)" userId="72144f61-c08e-4d38-bdb2-059f5253dbd2" providerId="ADAL" clId="{76419403-7D08-4E91-89FB-9FC1846C3D61}" dt="2026-02-09T06:44:05.324" v="1"/>
          <ac:spMkLst>
            <pc:docMk/>
            <pc:sldMk cId="0" sldId="270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SLPS Attendance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4A3B8"/>
                </a:solidFill>
                <a:latin typeface="Calibri"/>
              </a:rPr>
              <a:t>2023 </a:t>
            </a:r>
            <a:r>
              <a:rPr lang="en-US" sz="2200" b="0">
                <a:solidFill>
                  <a:srgbClr val="94A3B8"/>
                </a:solidFill>
                <a:latin typeface="Calibri"/>
              </a:rPr>
              <a:t>-</a:t>
            </a:r>
            <a:r>
              <a:rPr sz="2200" b="0">
                <a:solidFill>
                  <a:srgbClr val="94A3B8"/>
                </a:solidFill>
                <a:latin typeface="Calibri"/>
              </a:rPr>
              <a:t> 2025  |  DESE Proportional Attendance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Calibri"/>
              </a:rPr>
              <a:t>School Board Presentation  •  February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788920"/>
            <a:ext cx="2103120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dirty="0">
                <a:solidFill>
                  <a:srgbClr val="CBD5E1"/>
                </a:solidFill>
                <a:latin typeface="Calibri"/>
              </a:rPr>
              <a:t>2025 district proportional attendance rate: 46.3% </a:t>
            </a:r>
            <a:r>
              <a:rPr lang="en-US" sz="1800" dirty="0">
                <a:solidFill>
                  <a:srgbClr val="CBD5E1"/>
                </a:solidFill>
                <a:latin typeface="Calibri"/>
              </a:rPr>
              <a:t>-</a:t>
            </a:r>
            <a:r>
              <a:rPr sz="1800" dirty="0">
                <a:solidFill>
                  <a:srgbClr val="CBD5E1"/>
                </a:solidFill>
                <a:latin typeface="Calibri"/>
              </a:rPr>
              <a:t> unchanged from 2022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CBD5E1"/>
                </a:solidFill>
                <a:latin typeface="Calibri"/>
              </a:rPr>
              <a:t>Pre-pandemic peak was 88.3% in 2016; current rate is 42 points below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CBD5E1"/>
                </a:solidFill>
                <a:latin typeface="Calibri"/>
              </a:rPr>
              <a:t>K-8 rate (50.0%) outpaces high school (36.5%) by ~13.5 points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CBD5E1"/>
                </a:solidFill>
                <a:latin typeface="Calibri"/>
              </a:rPr>
              <a:t>School-level range: 9.4% (Vashon High) to 94.9% (Mallinckrodt ABI)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CBD5E1"/>
                </a:solidFill>
                <a:latin typeface="Calibri"/>
              </a:rPr>
              <a:t>SLPS trails the STL metro suburban average by ~40 points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CBD5E1"/>
                </a:solidFill>
                <a:latin typeface="Calibri"/>
              </a:rPr>
              <a:t>Racial/socioeconomic disparities are severe: White 77.4% vs Black 41.4%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District-Wide Attendance Trend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7882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Attendance by Grade Level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400800" cy="40609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097280"/>
            <a:ext cx="484632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94A3B8"/>
                </a:solidFill>
                <a:latin typeface="Calibri"/>
              </a:rPr>
              <a:t>K-8 consistently outperforms 9-12 by 13</a:t>
            </a:r>
            <a:r>
              <a:rPr lang="en-US" sz="1500">
                <a:solidFill>
                  <a:srgbClr val="94A3B8"/>
                </a:solidFill>
                <a:latin typeface="Calibri"/>
              </a:rPr>
              <a:t>-</a:t>
            </a:r>
            <a:r>
              <a:rPr sz="1500">
                <a:solidFill>
                  <a:srgbClr val="94A3B8"/>
                </a:solidFill>
                <a:latin typeface="Calibri"/>
              </a:rPr>
              <a:t>15 points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94A3B8"/>
                </a:solidFill>
                <a:latin typeface="Calibri"/>
              </a:rPr>
              <a:t>Both levels declined in 2025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94A3B8"/>
                </a:solidFill>
                <a:latin typeface="Calibri"/>
              </a:rPr>
              <a:t>At 36.5%, barely 1 in 3 HS students attend regularly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94A3B8"/>
                </a:solidFill>
                <a:latin typeface="Calibri"/>
              </a:rPr>
              <a:t>Middle school is the critical transition point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94A3B8"/>
                </a:solidFill>
                <a:latin typeface="Calibri"/>
              </a:rPr>
              <a:t>Younger students depend more on parent routines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94A3B8"/>
                </a:solidFill>
                <a:latin typeface="Calibri"/>
              </a:rPr>
              <a:t>Older students face work, childcare, disengagement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School-Level Performance (2025)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49033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Schools with Largest Changes (2023 → 2025)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46490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Demographic &amp; Equity Lens (2025)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6400800" cy="37317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005840"/>
            <a:ext cx="484632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94A3B8"/>
                </a:solidFill>
                <a:latin typeface="Calibri"/>
              </a:rPr>
              <a:t>White students: 77.4% </a:t>
            </a:r>
            <a:r>
              <a:rPr lang="en-US" sz="1500" dirty="0">
                <a:solidFill>
                  <a:srgbClr val="94A3B8"/>
                </a:solidFill>
                <a:latin typeface="Calibri"/>
              </a:rPr>
              <a:t>-</a:t>
            </a:r>
            <a:r>
              <a:rPr sz="1500" dirty="0">
                <a:solidFill>
                  <a:srgbClr val="94A3B8"/>
                </a:solidFill>
                <a:latin typeface="Calibri"/>
              </a:rPr>
              <a:t> nearly 2× Black (41.4%)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94A3B8"/>
                </a:solidFill>
                <a:latin typeface="Calibri"/>
              </a:rPr>
              <a:t>Hispanic: 37.7%  |  Asian: 61.3%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94A3B8"/>
                </a:solidFill>
                <a:latin typeface="Calibri"/>
              </a:rPr>
              <a:t>FRL rate (46.3%) mirrors overall </a:t>
            </a:r>
            <a:r>
              <a:rPr lang="en-US" sz="1500" dirty="0">
                <a:solidFill>
                  <a:srgbClr val="94A3B8"/>
                </a:solidFill>
                <a:latin typeface="Calibri"/>
              </a:rPr>
              <a:t>-</a:t>
            </a:r>
            <a:r>
              <a:rPr sz="1500" dirty="0">
                <a:solidFill>
                  <a:srgbClr val="94A3B8"/>
                </a:solidFill>
                <a:latin typeface="Calibri"/>
              </a:rPr>
              <a:t> most students qualify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94A3B8"/>
                </a:solidFill>
                <a:latin typeface="Calibri"/>
              </a:rPr>
              <a:t>IEP: 40.3%  |  LEP: 44.8%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94A3B8"/>
                </a:solidFill>
                <a:latin typeface="Calibri"/>
              </a:rPr>
              <a:t>Gaps have widened since the pandemic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94A3B8"/>
                </a:solidFill>
                <a:latin typeface="Calibri"/>
              </a:rPr>
              <a:t>Equity must anchor any intervention strategy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SLPS vs STL Metro Suburbs &amp; Charters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0265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005840"/>
            <a:ext cx="411480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STL suburban avg: 76.6% </a:t>
            </a:r>
            <a:r>
              <a:rPr lang="en-US" sz="1400" dirty="0">
                <a:solidFill>
                  <a:srgbClr val="94A3B8"/>
                </a:solidFill>
                <a:latin typeface="Calibri"/>
              </a:rPr>
              <a:t>-</a:t>
            </a:r>
            <a:r>
              <a:rPr sz="1400" dirty="0">
                <a:solidFill>
                  <a:srgbClr val="94A3B8"/>
                </a:solidFill>
                <a:latin typeface="Calibri"/>
              </a:rPr>
              <a:t> ~30.3 pp above SLPS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STL charters avg: 59.2%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Gap has widened significantly since COVID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Suburban districts recovered faster </a:t>
            </a:r>
            <a:r>
              <a:rPr lang="en-US" sz="1400" dirty="0">
                <a:solidFill>
                  <a:srgbClr val="94A3B8"/>
                </a:solidFill>
                <a:latin typeface="Calibri"/>
              </a:rPr>
              <a:t>-</a:t>
            </a:r>
            <a:r>
              <a:rPr sz="1400" dirty="0">
                <a:solidFill>
                  <a:srgbClr val="94A3B8"/>
                </a:solidFill>
                <a:latin typeface="Calibri"/>
              </a:rPr>
              <a:t> SLPS has not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Charters show a similar decline pattern to SLPS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Structural barriers (poverty, transport) drive the gap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SLPS vs Kansas City Comparison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0148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005840"/>
            <a:ext cx="411480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KCPS 2025: 48.9% </a:t>
            </a:r>
            <a:r>
              <a:rPr lang="en-US" sz="1400" dirty="0">
                <a:solidFill>
                  <a:srgbClr val="94A3B8"/>
                </a:solidFill>
                <a:latin typeface="Calibri"/>
              </a:rPr>
              <a:t>-</a:t>
            </a:r>
            <a:r>
              <a:rPr sz="1400" dirty="0">
                <a:solidFill>
                  <a:srgbClr val="94A3B8"/>
                </a:solidFill>
                <a:latin typeface="Calibri"/>
              </a:rPr>
              <a:t> similar urban challenges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KC suburban avg: 78.1%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KC charters avg: 68.5%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Both urban cores lag their suburban rings </a:t>
            </a:r>
            <a:r>
              <a:rPr sz="1400">
                <a:solidFill>
                  <a:srgbClr val="94A3B8"/>
                </a:solidFill>
                <a:latin typeface="Calibri"/>
              </a:rPr>
              <a:t>by 30</a:t>
            </a:r>
            <a:r>
              <a:rPr lang="en-US" sz="1400">
                <a:solidFill>
                  <a:srgbClr val="94A3B8"/>
                </a:solidFill>
                <a:latin typeface="Calibri"/>
              </a:rPr>
              <a:t>-</a:t>
            </a:r>
            <a:r>
              <a:rPr sz="1400">
                <a:solidFill>
                  <a:srgbClr val="94A3B8"/>
                </a:solidFill>
                <a:latin typeface="Calibri"/>
              </a:rPr>
              <a:t>40 </a:t>
            </a:r>
            <a:r>
              <a:rPr sz="1400" dirty="0">
                <a:solidFill>
                  <a:srgbClr val="94A3B8"/>
                </a:solidFill>
                <a:latin typeface="Calibri"/>
              </a:rPr>
              <a:t>pp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KCPS and SLPS track closely </a:t>
            </a:r>
            <a:r>
              <a:rPr lang="en-US" sz="1400" dirty="0">
                <a:solidFill>
                  <a:srgbClr val="94A3B8"/>
                </a:solidFill>
                <a:latin typeface="Calibri"/>
              </a:rPr>
              <a:t>-</a:t>
            </a:r>
            <a:r>
              <a:rPr sz="1400" dirty="0">
                <a:solidFill>
                  <a:srgbClr val="94A3B8"/>
                </a:solidFill>
                <a:latin typeface="Calibri"/>
              </a:rPr>
              <a:t> systemic urban issue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KC charters also struggle vs suburban districts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2025 Attendance: All Groups Side-by-Side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38815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005840"/>
            <a:ext cx="4114800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Urban cores (SLPS &amp; KCPS) are far below suburban averages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Suburban STL &amp; KC districts cluster </a:t>
            </a:r>
            <a:r>
              <a:rPr sz="1400">
                <a:solidFill>
                  <a:srgbClr val="94A3B8"/>
                </a:solidFill>
                <a:latin typeface="Calibri"/>
              </a:rPr>
              <a:t>around 80</a:t>
            </a:r>
            <a:r>
              <a:rPr lang="en-US" sz="1400">
                <a:solidFill>
                  <a:srgbClr val="94A3B8"/>
                </a:solidFill>
                <a:latin typeface="Calibri"/>
              </a:rPr>
              <a:t>-</a:t>
            </a:r>
            <a:r>
              <a:rPr sz="1400">
                <a:solidFill>
                  <a:srgbClr val="94A3B8"/>
                </a:solidFill>
                <a:latin typeface="Calibri"/>
              </a:rPr>
              <a:t>85</a:t>
            </a:r>
            <a:r>
              <a:rPr sz="1400" dirty="0">
                <a:solidFill>
                  <a:srgbClr val="94A3B8"/>
                </a:solidFill>
                <a:latin typeface="Calibri"/>
              </a:rPr>
              <a:t>%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Charter schools fall between urban &amp; suburban rates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The urban-suburban gap is the defining feature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Charters have not closed the gap </a:t>
            </a:r>
            <a:r>
              <a:rPr lang="en-US" sz="1400" dirty="0">
                <a:solidFill>
                  <a:srgbClr val="94A3B8"/>
                </a:solidFill>
                <a:latin typeface="Calibri"/>
              </a:rPr>
              <a:t>-</a:t>
            </a:r>
            <a:r>
              <a:rPr sz="1400" dirty="0">
                <a:solidFill>
                  <a:srgbClr val="94A3B8"/>
                </a:solidFill>
                <a:latin typeface="Calibri"/>
              </a:rPr>
              <a:t> face similar challenges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Recovery strategies must address urban-specific barriers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SLPS vs KCPS: Grade-Level Comparison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0413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0058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Both SLPS and KCPS show large K-8 vs 9-12 gaps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KCPS high school rate tracks closely with SLPS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K-8 recovery has stalled at both urban districts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Suburban MSA districts do not show this steep gap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High school disengagement is a shared urban crisis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Interventions at the middle-school transition are key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Demographic Attendance: SLPS vs Peers (2025)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35431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0058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Black student rates lowest across all groups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STL &amp; KC suburban districts outperform urban across every race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White-Black gap exists everywhere but is widest in urban cores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SLPS and KCPS show nearly identical demographic patterns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Hispanic rates diverge more between metro areas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Disparities are structural, not unique to one district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Equity Lens: LEP / IEP / FRL Across Groups (2025)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400800" cy="40609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005840"/>
            <a:ext cx="484632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SLPS LEP, IEP, and FRL rates all lag suburban averages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KCPS shows a similar pattern </a:t>
            </a:r>
            <a:r>
              <a:rPr lang="en-US" sz="1400" dirty="0">
                <a:solidFill>
                  <a:srgbClr val="94A3B8"/>
                </a:solidFill>
                <a:latin typeface="Calibri"/>
              </a:rPr>
              <a:t>-</a:t>
            </a:r>
            <a:r>
              <a:rPr sz="1400" dirty="0">
                <a:solidFill>
                  <a:srgbClr val="94A3B8"/>
                </a:solidFill>
                <a:latin typeface="Calibri"/>
              </a:rPr>
              <a:t> urban poverty effect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FRL rate closely mirrors overall rate at both urban districts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Suburban districts serve fewer FRL students at higher rates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IEP attendance gap is smaller </a:t>
            </a:r>
            <a:r>
              <a:rPr lang="en-US" sz="1400" dirty="0">
                <a:solidFill>
                  <a:srgbClr val="94A3B8"/>
                </a:solidFill>
                <a:latin typeface="Calibri"/>
              </a:rPr>
              <a:t>-</a:t>
            </a:r>
            <a:r>
              <a:rPr sz="1400" dirty="0">
                <a:solidFill>
                  <a:srgbClr val="94A3B8"/>
                </a:solidFill>
                <a:latin typeface="Calibri"/>
              </a:rPr>
              <a:t> wraparound services help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Targeted investment in high-poverty schools is essential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FRL Rate vs Overall Attendance (2025)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315200" cy="4293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005840"/>
            <a:ext cx="4114800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Strong correlation: higher FRL → lower attendance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SLPS and KCPS sit at the low-attendance, high-poverty corner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Suburban districts cluster at high-attendance, low-poverty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Charters are scattered </a:t>
            </a:r>
            <a:r>
              <a:rPr lang="en-US" sz="1400" dirty="0">
                <a:solidFill>
                  <a:srgbClr val="94A3B8"/>
                </a:solidFill>
                <a:latin typeface="Calibri"/>
              </a:rPr>
              <a:t>-</a:t>
            </a:r>
            <a:r>
              <a:rPr sz="1400" dirty="0">
                <a:solidFill>
                  <a:srgbClr val="94A3B8"/>
                </a:solidFill>
                <a:latin typeface="Calibri"/>
              </a:rPr>
              <a:t> some outperform, some do not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Poverty is the strongest predictor of chronic absence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94A3B8"/>
                </a:solidFill>
                <a:latin typeface="Calibri"/>
              </a:rPr>
              <a:t>Any intervention must address socioeconomic barriers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Findings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303520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CBD5E1"/>
                </a:solidFill>
                <a:latin typeface="Calibri"/>
              </a:rPr>
              <a:t>CHRONIC ABSENTEEISM CRISIS </a:t>
            </a:r>
            <a:r>
              <a:rPr lang="en-US" sz="1500" dirty="0">
                <a:solidFill>
                  <a:srgbClr val="CBD5E1"/>
                </a:solidFill>
                <a:latin typeface="Calibri"/>
              </a:rPr>
              <a:t>-</a:t>
            </a:r>
            <a:r>
              <a:rPr sz="1500" dirty="0">
                <a:solidFill>
                  <a:srgbClr val="CBD5E1"/>
                </a:solidFill>
                <a:latin typeface="Calibri"/>
              </a:rPr>
              <a:t> 46.3% rate means &gt;50% of students are chronically absent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CBD5E1"/>
                </a:solidFill>
                <a:latin typeface="Calibri"/>
              </a:rPr>
              <a:t>NO SUSTAINED RECOVERY </a:t>
            </a:r>
            <a:r>
              <a:rPr lang="en-US" sz="1500" dirty="0">
                <a:solidFill>
                  <a:srgbClr val="CBD5E1"/>
                </a:solidFill>
                <a:latin typeface="Calibri"/>
              </a:rPr>
              <a:t>-</a:t>
            </a:r>
            <a:r>
              <a:rPr sz="1500" dirty="0">
                <a:solidFill>
                  <a:srgbClr val="CBD5E1"/>
                </a:solidFill>
                <a:latin typeface="Calibri"/>
              </a:rPr>
              <a:t> 2025 erased all post-COVID gains; causes are now structural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CBD5E1"/>
                </a:solidFill>
                <a:latin typeface="Calibri"/>
              </a:rPr>
              <a:t>GRADE LEVEL GAP </a:t>
            </a:r>
            <a:r>
              <a:rPr lang="en-US" sz="1500">
                <a:solidFill>
                  <a:srgbClr val="CBD5E1"/>
                </a:solidFill>
                <a:latin typeface="Calibri"/>
              </a:rPr>
              <a:t>-</a:t>
            </a:r>
            <a:r>
              <a:rPr sz="1500">
                <a:solidFill>
                  <a:srgbClr val="CBD5E1"/>
                </a:solidFill>
                <a:latin typeface="Calibri"/>
              </a:rPr>
              <a:t> 13</a:t>
            </a:r>
            <a:r>
              <a:rPr lang="en-US" sz="1500">
                <a:solidFill>
                  <a:srgbClr val="CBD5E1"/>
                </a:solidFill>
                <a:latin typeface="Calibri"/>
              </a:rPr>
              <a:t>-</a:t>
            </a:r>
            <a:r>
              <a:rPr sz="1500">
                <a:solidFill>
                  <a:srgbClr val="CBD5E1"/>
                </a:solidFill>
                <a:latin typeface="Calibri"/>
              </a:rPr>
              <a:t>15 </a:t>
            </a:r>
            <a:r>
              <a:rPr sz="1500" dirty="0">
                <a:solidFill>
                  <a:srgbClr val="CBD5E1"/>
                </a:solidFill>
                <a:latin typeface="Calibri"/>
              </a:rPr>
              <a:t>pp K-8 vs HS gap; middle school is the inflection point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CBD5E1"/>
                </a:solidFill>
                <a:latin typeface="Calibri"/>
              </a:rPr>
              <a:t>BRIGHT SPOTS EXIST </a:t>
            </a:r>
            <a:r>
              <a:rPr lang="en-US" sz="1500" dirty="0">
                <a:solidFill>
                  <a:srgbClr val="CBD5E1"/>
                </a:solidFill>
                <a:latin typeface="Calibri"/>
              </a:rPr>
              <a:t>-</a:t>
            </a:r>
            <a:r>
              <a:rPr sz="1500" dirty="0">
                <a:solidFill>
                  <a:srgbClr val="CBD5E1"/>
                </a:solidFill>
                <a:latin typeface="Calibri"/>
              </a:rPr>
              <a:t> Mallinckrodt, Metro, Classical Academy prove it's achievable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CBD5E1"/>
                </a:solidFill>
                <a:latin typeface="Calibri"/>
              </a:rPr>
              <a:t>URGENT INTERVENTION </a:t>
            </a:r>
            <a:r>
              <a:rPr lang="en-US" sz="1500" dirty="0">
                <a:solidFill>
                  <a:srgbClr val="CBD5E1"/>
                </a:solidFill>
                <a:latin typeface="Calibri"/>
              </a:rPr>
              <a:t>-</a:t>
            </a:r>
            <a:r>
              <a:rPr sz="1500" dirty="0">
                <a:solidFill>
                  <a:srgbClr val="CBD5E1"/>
                </a:solidFill>
                <a:latin typeface="Calibri"/>
              </a:rPr>
              <a:t> Several schools below 20%; need immediate, school-specific plans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CBD5E1"/>
                </a:solidFill>
                <a:latin typeface="Calibri"/>
              </a:rPr>
              <a:t>EQUITY GAPS </a:t>
            </a:r>
            <a:r>
              <a:rPr lang="en-US" sz="1500" dirty="0">
                <a:solidFill>
                  <a:srgbClr val="CBD5E1"/>
                </a:solidFill>
                <a:latin typeface="Calibri"/>
              </a:rPr>
              <a:t>-</a:t>
            </a:r>
            <a:r>
              <a:rPr sz="1500" dirty="0">
                <a:solidFill>
                  <a:srgbClr val="CBD5E1"/>
                </a:solidFill>
                <a:latin typeface="Calibri"/>
              </a:rPr>
              <a:t> Racial and socioeconomic disparities are severe and worsening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ADE80"/>
                </a:solidFill>
                <a:latin typeface="Calibri"/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30352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94A3B8"/>
                </a:solidFill>
                <a:latin typeface="Calibri"/>
              </a:rPr>
              <a:t>Form an Attendance Task Force with cross-functional membership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94A3B8"/>
                </a:solidFill>
                <a:latin typeface="Calibri"/>
              </a:rPr>
              <a:t>Conduct site visits to top-performing schools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94A3B8"/>
                </a:solidFill>
                <a:latin typeface="Calibri"/>
              </a:rPr>
              <a:t>Deploy early-warning system to flag at-risk students by Day 10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94A3B8"/>
                </a:solidFill>
                <a:latin typeface="Calibri"/>
              </a:rPr>
              <a:t>Invest in attendance specialists and social workers at every building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94A3B8"/>
                </a:solidFill>
                <a:latin typeface="Calibri"/>
              </a:rPr>
              <a:t>Pilot targeted interventions at 3</a:t>
            </a:r>
            <a:r>
              <a:rPr lang="en-US" sz="1500">
                <a:solidFill>
                  <a:srgbClr val="94A3B8"/>
                </a:solidFill>
                <a:latin typeface="Calibri"/>
              </a:rPr>
              <a:t>-</a:t>
            </a:r>
            <a:r>
              <a:rPr sz="1500">
                <a:solidFill>
                  <a:srgbClr val="94A3B8"/>
                </a:solidFill>
                <a:latin typeface="Calibri"/>
              </a:rPr>
              <a:t>5 lowest-performing schools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94A3B8"/>
                </a:solidFill>
                <a:latin typeface="Calibri"/>
              </a:rPr>
              <a:t>Set measurable quarterly improvement targets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783</Words>
  <Application>Microsoft Office PowerPoint</Application>
  <PresentationFormat>Widescreen</PresentationFormat>
  <Paragraphs>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Stuckey, Everett E.</cp:lastModifiedBy>
  <cp:revision>1</cp:revision>
  <dcterms:created xsi:type="dcterms:W3CDTF">2013-01-27T09:14:16Z</dcterms:created>
  <dcterms:modified xsi:type="dcterms:W3CDTF">2026-02-09T06:44:05Z</dcterms:modified>
  <cp:category/>
</cp:coreProperties>
</file>